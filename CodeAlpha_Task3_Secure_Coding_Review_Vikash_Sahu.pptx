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0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863840" y="640080"/>
            <a:ext cx="3566160" cy="5394960"/>
          </a:xfrm>
          <a:prstGeom prst="round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676656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30D3D6"/>
                </a:solidFill>
                <a:latin typeface="Aptos"/>
              </a:defRPr>
            </a:pPr>
            <a:r>
              <a:t>CODEALPHA • CYBER SECURITY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6858000" cy="1463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3800" b="1">
                <a:solidFill>
                  <a:srgbClr val="F2F7FF"/>
                </a:solidFill>
                <a:latin typeface="Aptos"/>
              </a:defRPr>
            </a:pPr>
            <a:r>
              <a:t>SECURE CODING</a:t>
            </a:r>
          </a:p>
          <a:p>
            <a:pPr>
              <a:spcAft>
                <a:spcPts val="700"/>
              </a:spcAft>
              <a:defRPr sz="3800" b="1">
                <a:solidFill>
                  <a:srgbClr val="F2F7FF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520440"/>
            <a:ext cx="6309360" cy="8229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B4C2D7"/>
                </a:solidFill>
                <a:latin typeface="Aptos"/>
              </a:defRPr>
            </a:pPr>
            <a:r>
              <a:t>Finding common vulnerabilities and applying safer coding practices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166360"/>
            <a:ext cx="612648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2F7FF"/>
                </a:solidFill>
                <a:latin typeface="Aptos"/>
              </a:defRPr>
            </a:pPr>
            <a:r>
              <a:t>Presented by: Vikash Sahu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623560"/>
            <a:ext cx="621792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4C2D7"/>
                </a:solidFill>
                <a:latin typeface="Aptos"/>
              </a:defRPr>
            </a:pPr>
            <a:r>
              <a:t>Task 3 • Educational security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417320"/>
            <a:ext cx="2468880" cy="7315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700"/>
              </a:spcAft>
              <a:defRPr sz="5200" b="1">
                <a:solidFill>
                  <a:srgbClr val="30D3D6"/>
                </a:solidFill>
                <a:latin typeface="Aptos"/>
              </a:defRPr>
            </a:pPr>
            <a:r>
              <a:t>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423160"/>
            <a:ext cx="274320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30D3D6"/>
                </a:solidFill>
                <a:latin typeface="Aptos"/>
              </a:defRPr>
            </a:pPr>
            <a:r>
              <a:t>SECURITY BY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3154680"/>
            <a:ext cx="2560320" cy="1554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700"/>
              </a:spcAft>
              <a:defRPr sz="1800" b="0">
                <a:solidFill>
                  <a:srgbClr val="F2F7FF"/>
                </a:solidFill>
                <a:latin typeface="Aptos"/>
              </a:defRPr>
            </a:pPr>
            <a:r>
              <a:t>Validate inputs</a:t>
            </a:r>
          </a:p>
          <a:p>
            <a:pPr algn="ctr">
              <a:spcAft>
                <a:spcPts val="700"/>
              </a:spcAft>
              <a:defRPr sz="1800" b="0">
                <a:solidFill>
                  <a:srgbClr val="F2F7FF"/>
                </a:solidFill>
                <a:latin typeface="Aptos"/>
              </a:defRPr>
            </a:pPr>
            <a:r>
              <a:t>Protect secrets</a:t>
            </a:r>
          </a:p>
          <a:p>
            <a:pPr algn="ctr">
              <a:spcAft>
                <a:spcPts val="700"/>
              </a:spcAft>
              <a:defRPr sz="1800" b="0">
                <a:solidFill>
                  <a:srgbClr val="F2F7FF"/>
                </a:solidFill>
                <a:latin typeface="Aptos"/>
              </a:defRPr>
            </a:pPr>
            <a:r>
              <a:t>Use safe APIs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5257800"/>
            <a:ext cx="274320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700"/>
              </a:spcAft>
              <a:defRPr sz="1000" b="0">
                <a:solidFill>
                  <a:srgbClr val="B4C2D7"/>
                </a:solidFill>
                <a:latin typeface="Aptos"/>
              </a:defRPr>
            </a:pPr>
            <a:r>
              <a:t>CONFIDENTIALITY • INTEGRITY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2F7FF"/>
                </a:solidFill>
                <a:latin typeface="Aptos"/>
              </a:defRPr>
            </a:pPr>
            <a:r>
              <a:t>01  |  What is a Secure Coding Review?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4C2D7"/>
                </a:solidFill>
                <a:latin typeface="Aptos"/>
              </a:defRPr>
            </a:pPr>
            <a:r>
              <a:t>A structured check for weaknesses in application source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B4C2D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520440" cy="3474720"/>
          </a:xfrm>
          <a:prstGeom prst="round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4008" cy="3474720"/>
          </a:xfrm>
          <a:prstGeom prst="rect">
            <a:avLst/>
          </a:prstGeom>
          <a:solidFill>
            <a:srgbClr val="30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10512"/>
            <a:ext cx="31546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30D3D6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67712"/>
            <a:ext cx="3154680" cy="2743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2F7FF"/>
                </a:solidFill>
                <a:latin typeface="Aptos"/>
              </a:defRPr>
            </a:pPr>
            <a:r>
              <a:t>• Find insecure patterns before release</a:t>
            </a:r>
          </a:p>
          <a:p>
            <a:pPr>
              <a:spcAft>
                <a:spcPts val="700"/>
              </a:spcAft>
              <a:defRPr sz="1600" b="0">
                <a:solidFill>
                  <a:srgbClr val="F2F7FF"/>
                </a:solidFill>
                <a:latin typeface="Aptos"/>
              </a:defRPr>
            </a:pPr>
            <a:r>
              <a:t>• Understand impact and likelihood</a:t>
            </a:r>
          </a:p>
          <a:p>
            <a:pPr>
              <a:spcAft>
                <a:spcPts val="700"/>
              </a:spcAft>
              <a:defRPr sz="1600" b="0">
                <a:solidFill>
                  <a:srgbClr val="F2F7FF"/>
                </a:solidFill>
                <a:latin typeface="Aptos"/>
              </a:defRPr>
            </a:pPr>
            <a:r>
              <a:t>• Recommend practical fixes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20440" cy="3474720"/>
          </a:xfrm>
          <a:prstGeom prst="round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45920"/>
            <a:ext cx="64008" cy="3474720"/>
          </a:xfrm>
          <a:prstGeom prst="rect">
            <a:avLst/>
          </a:prstGeom>
          <a:solidFill>
            <a:srgbClr val="FFC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810512"/>
            <a:ext cx="31546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FCD66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267712"/>
            <a:ext cx="3154680" cy="2743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2F7FF"/>
                </a:solidFill>
                <a:latin typeface="Aptos"/>
              </a:defRPr>
            </a:pPr>
            <a:r>
              <a:t>• Hardcoded credentials</a:t>
            </a:r>
          </a:p>
          <a:p>
            <a:pPr>
              <a:spcAft>
                <a:spcPts val="700"/>
              </a:spcAft>
              <a:defRPr sz="1600" b="0">
                <a:solidFill>
                  <a:srgbClr val="F2F7FF"/>
                </a:solidFill>
                <a:latin typeface="Aptos"/>
              </a:defRPr>
            </a:pPr>
            <a:r>
              <a:t>• SQL injection</a:t>
            </a:r>
          </a:p>
          <a:p>
            <a:pPr>
              <a:spcAft>
                <a:spcPts val="700"/>
              </a:spcAft>
              <a:defRPr sz="1600" b="0">
                <a:solidFill>
                  <a:srgbClr val="F2F7FF"/>
                </a:solidFill>
                <a:latin typeface="Aptos"/>
              </a:defRPr>
            </a:pPr>
            <a:r>
              <a:t>• Command injection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520440" cy="3474720"/>
          </a:xfrm>
          <a:prstGeom prst="round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64008" cy="3474720"/>
          </a:xfrm>
          <a:prstGeom prst="rect">
            <a:avLst/>
          </a:prstGeom>
          <a:solidFill>
            <a:srgbClr val="5D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810512"/>
            <a:ext cx="31546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5DDCA0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267712"/>
            <a:ext cx="3154680" cy="2743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2F7FF"/>
                </a:solidFill>
                <a:latin typeface="Aptos"/>
              </a:defRPr>
            </a:pPr>
            <a:r>
              <a:t>• Safer code and APIs</a:t>
            </a:r>
          </a:p>
          <a:p>
            <a:pPr>
              <a:spcAft>
                <a:spcPts val="700"/>
              </a:spcAft>
              <a:defRPr sz="1600" b="0">
                <a:solidFill>
                  <a:srgbClr val="F2F7FF"/>
                </a:solidFill>
                <a:latin typeface="Aptos"/>
              </a:defRPr>
            </a:pPr>
            <a:r>
              <a:t>• Clear remediation notes</a:t>
            </a:r>
          </a:p>
          <a:p>
            <a:pPr>
              <a:spcAft>
                <a:spcPts val="700"/>
              </a:spcAft>
              <a:defRPr sz="1600" b="0">
                <a:solidFill>
                  <a:srgbClr val="F2F7FF"/>
                </a:solidFill>
                <a:latin typeface="Aptos"/>
              </a:defRPr>
            </a:pPr>
            <a:r>
              <a:t>• Repeatable review checklist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2F7FF"/>
                </a:solidFill>
                <a:latin typeface="Aptos"/>
              </a:defRPr>
            </a:pPr>
            <a:r>
              <a:t>02  |  Review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4C2D7"/>
                </a:solidFill>
                <a:latin typeface="Aptos"/>
              </a:defRPr>
            </a:pPr>
            <a:r>
              <a:t>Use a repeatable process rather than relying on intuition.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B4C2D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2011680" cy="2560320"/>
          </a:xfrm>
          <a:prstGeom prst="round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67712"/>
            <a:ext cx="15544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700"/>
              </a:spcAft>
              <a:defRPr sz="2800" b="1">
                <a:solidFill>
                  <a:srgbClr val="30D3D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907792"/>
            <a:ext cx="17830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F2F7FF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429000"/>
            <a:ext cx="1691640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4C2D7"/>
                </a:solidFill>
                <a:latin typeface="Aptos"/>
              </a:defRPr>
            </a:pPr>
            <a:r>
              <a:t>Map inputs, data flow, and trust boundaries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336" y="2971800"/>
            <a:ext cx="2743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30D3D6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53512" y="2057400"/>
            <a:ext cx="2011680" cy="2560320"/>
          </a:xfrm>
          <a:prstGeom prst="round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36392" y="2267712"/>
            <a:ext cx="15544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700"/>
              </a:spcAft>
              <a:defRPr sz="2800" b="1">
                <a:solidFill>
                  <a:srgbClr val="30D3D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907792"/>
            <a:ext cx="17830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F2F7FF"/>
                </a:solidFill>
                <a:latin typeface="Aptos"/>
              </a:defRPr>
            </a:pPr>
            <a:r>
              <a:t>Inspect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8104" y="3429000"/>
            <a:ext cx="1691640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4C2D7"/>
                </a:solidFill>
                <a:latin typeface="Aptos"/>
              </a:defRPr>
            </a:pPr>
            <a:r>
              <a:t>Search for secrets, unsafe queries, shell calls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2971800"/>
            <a:ext cx="2743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30D3D6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21224" y="2057400"/>
            <a:ext cx="2011680" cy="2560320"/>
          </a:xfrm>
          <a:prstGeom prst="round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04104" y="2267712"/>
            <a:ext cx="15544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700"/>
              </a:spcAft>
              <a:defRPr sz="2800" b="1">
                <a:solidFill>
                  <a:srgbClr val="30D3D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2907792"/>
            <a:ext cx="17830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F2F7FF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85816" y="3429000"/>
            <a:ext cx="1691640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4C2D7"/>
                </a:solidFill>
                <a:latin typeface="Aptos"/>
              </a:defRPr>
            </a:pPr>
            <a:r>
              <a:t>Reproduce issues only in a safe test environment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971800"/>
            <a:ext cx="2743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30D3D6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88936" y="2057400"/>
            <a:ext cx="2011680" cy="2560320"/>
          </a:xfrm>
          <a:prstGeom prst="round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71815" y="2267712"/>
            <a:ext cx="15544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700"/>
              </a:spcAft>
              <a:defRPr sz="2800" b="1">
                <a:solidFill>
                  <a:srgbClr val="30D3D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8663" y="2907792"/>
            <a:ext cx="17830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F2F7FF"/>
                </a:solidFill>
                <a:latin typeface="Aptos"/>
              </a:defRPr>
            </a:pPr>
            <a:r>
              <a:t>Fix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3527" y="3429000"/>
            <a:ext cx="1691640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4C2D7"/>
                </a:solidFill>
                <a:latin typeface="Aptos"/>
              </a:defRPr>
            </a:pPr>
            <a:r>
              <a:t>Use parameterization, secret stores, allowlists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91472" y="2971800"/>
            <a:ext cx="2743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700"/>
              </a:spcAft>
              <a:defRPr sz="2400" b="1">
                <a:solidFill>
                  <a:srgbClr val="30D3D6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56648" y="2057400"/>
            <a:ext cx="2011680" cy="2560320"/>
          </a:xfrm>
          <a:prstGeom prst="round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39528" y="2267712"/>
            <a:ext cx="15544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700"/>
              </a:spcAft>
              <a:defRPr sz="2800" b="1">
                <a:solidFill>
                  <a:srgbClr val="30D3D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66376" y="2907792"/>
            <a:ext cx="17830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F2F7FF"/>
                </a:solidFill>
                <a:latin typeface="Aptos"/>
              </a:defRPr>
            </a:pPr>
            <a:r>
              <a:t>Retest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3429000"/>
            <a:ext cx="1691640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B4C2D7"/>
                </a:solidFill>
                <a:latin typeface="Aptos"/>
              </a:defRPr>
            </a:pPr>
            <a:r>
              <a:t>Add regression tests and document residual risk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2F7FF"/>
                </a:solidFill>
                <a:latin typeface="Aptos"/>
              </a:defRPr>
            </a:pPr>
            <a:r>
              <a:t>03  |  Vulnerability #1: Hardcoded Credentials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4C2D7"/>
                </a:solidFill>
                <a:latin typeface="Aptos"/>
              </a:defRPr>
            </a:pPr>
            <a:r>
              <a:t>Secrets embedded in source code can leak through repositories, logs, or builds.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B4C2D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303520" cy="3931920"/>
          </a:xfrm>
          <a:prstGeom prst="round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4008" cy="3931920"/>
          </a:xfrm>
          <a:prstGeom prst="rect">
            <a:avLst/>
          </a:prstGeom>
          <a:solidFill>
            <a:srgbClr val="FF6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10512"/>
            <a:ext cx="4937759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F6870"/>
                </a:solidFill>
                <a:latin typeface="Aptos"/>
              </a:defRPr>
            </a:pPr>
            <a:r>
              <a:t>RISKY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67712"/>
            <a:ext cx="4937759" cy="3200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2F7FF"/>
                </a:solidFill>
                <a:latin typeface="Aptos"/>
              </a:defRPr>
            </a:pPr>
            <a:r>
              <a:t>• Passwords, API keys, or tokens stored directly in code</a:t>
            </a:r>
          </a:p>
          <a:p>
            <a:pPr>
              <a:spcAft>
                <a:spcPts val="700"/>
              </a:spcAft>
              <a:defRPr sz="1500" b="0">
                <a:solidFill>
                  <a:srgbClr val="F2F7FF"/>
                </a:solidFill>
                <a:latin typeface="Aptos"/>
              </a:defRPr>
            </a:pPr>
            <a:r>
              <a:t>• Anyone with source access may gain account access</a:t>
            </a:r>
          </a:p>
          <a:p>
            <a:pPr>
              <a:spcAft>
                <a:spcPts val="700"/>
              </a:spcAft>
              <a:defRPr sz="1500" b="0">
                <a:solidFill>
                  <a:srgbClr val="F2F7FF"/>
                </a:solidFill>
                <a:latin typeface="Aptos"/>
              </a:defRPr>
            </a:pPr>
            <a:r>
              <a:t>• Rotating a leaked secret requires code and deployment changes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03520" cy="3931920"/>
          </a:xfrm>
          <a:prstGeom prst="round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64008" cy="3931920"/>
          </a:xfrm>
          <a:prstGeom prst="rect">
            <a:avLst/>
          </a:prstGeom>
          <a:solidFill>
            <a:srgbClr val="5D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810512"/>
            <a:ext cx="4937759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5DDCA0"/>
                </a:solidFill>
                <a:latin typeface="Aptos"/>
              </a:defRPr>
            </a:pPr>
            <a:r>
              <a:t>SAFER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67712"/>
            <a:ext cx="4937759" cy="3200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2F7FF"/>
                </a:solidFill>
                <a:latin typeface="Aptos"/>
              </a:defRPr>
            </a:pPr>
            <a:r>
              <a:t>• Load secrets from environment or a secret manager</a:t>
            </a:r>
          </a:p>
          <a:p>
            <a:pPr>
              <a:spcAft>
                <a:spcPts val="700"/>
              </a:spcAft>
              <a:defRPr sz="1500" b="0">
                <a:solidFill>
                  <a:srgbClr val="F2F7FF"/>
                </a:solidFill>
                <a:latin typeface="Aptos"/>
              </a:defRPr>
            </a:pPr>
            <a:r>
              <a:t>• Keep .env files out of version control</a:t>
            </a:r>
          </a:p>
          <a:p>
            <a:pPr>
              <a:spcAft>
                <a:spcPts val="700"/>
              </a:spcAft>
              <a:defRPr sz="1500" b="0">
                <a:solidFill>
                  <a:srgbClr val="F2F7FF"/>
                </a:solidFill>
                <a:latin typeface="Aptos"/>
              </a:defRPr>
            </a:pPr>
            <a:r>
              <a:t>• Rotate exposed credentials immediately</a:t>
            </a:r>
          </a:p>
          <a:p>
            <a:pPr>
              <a:spcAft>
                <a:spcPts val="700"/>
              </a:spcAft>
              <a:defRPr sz="1500" b="0">
                <a:solidFill>
                  <a:srgbClr val="F2F7FF"/>
                </a:solidFill>
                <a:latin typeface="Aptos"/>
              </a:defRPr>
            </a:pPr>
            <a:r>
              <a:t>• Use least-privilege service accounts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806440"/>
            <a:ext cx="10241280" cy="438912"/>
          </a:xfrm>
          <a:prstGeom prst="roundRect">
            <a:avLst/>
          </a:prstGeom>
          <a:solidFill>
            <a:srgbClr val="20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870448"/>
            <a:ext cx="996696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30D3D6"/>
                </a:solidFill>
                <a:latin typeface="Aptos"/>
              </a:defRPr>
            </a:pPr>
            <a:r>
              <a:t>Example: password = os.environ["APP_PASSWORD"]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2F7FF"/>
                </a:solidFill>
                <a:latin typeface="Aptos"/>
              </a:defRPr>
            </a:pPr>
            <a:r>
              <a:t>04  |  Secret Handling: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4C2D7"/>
                </a:solidFill>
                <a:latin typeface="Aptos"/>
              </a:defRPr>
            </a:pPr>
            <a:r>
              <a:t>Illustrative Python pattern — configure the environment securely.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B4C2D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57800" cy="3474720"/>
          </a:xfrm>
          <a:prstGeom prst="roundRect">
            <a:avLst/>
          </a:prstGeom>
          <a:solidFill>
            <a:srgbClr val="261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10512"/>
            <a:ext cx="47548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6870"/>
                </a:solidFill>
                <a:latin typeface="Aptos"/>
              </a:defRPr>
            </a:pPr>
            <a:r>
              <a:t>AVOID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4663440" cy="22860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2F7FF"/>
                </a:solidFill>
                <a:latin typeface="Aptos"/>
              </a:defRPr>
            </a:pPr>
            <a:r>
              <a:t>DB_PASSWORD = "myPassword123"</a:t>
            </a:r>
          </a:p>
          <a:p>
            <a:pPr>
              <a:spcAft>
                <a:spcPts val="700"/>
              </a:spcAft>
              <a:defRPr sz="1600" b="0">
                <a:solidFill>
                  <a:srgbClr val="F2F7FF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600" b="0">
                <a:solidFill>
                  <a:srgbClr val="F2F7FF"/>
                </a:solidFill>
                <a:latin typeface="Aptos"/>
              </a:defRPr>
            </a:pPr>
            <a:r>
              <a:t># Secret is exposed in source</a:t>
            </a:r>
          </a:p>
          <a:p>
            <a:pPr>
              <a:spcAft>
                <a:spcPts val="700"/>
              </a:spcAft>
              <a:defRPr sz="1600" b="0">
                <a:solidFill>
                  <a:srgbClr val="F2F7FF"/>
                </a:solidFill>
                <a:latin typeface="Aptos"/>
              </a:defRPr>
            </a:pPr>
            <a:r>
              <a:t># and may be committed to Git.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257800" cy="3474720"/>
          </a:xfrm>
          <a:prstGeom prst="roundRect">
            <a:avLst/>
          </a:prstGeom>
          <a:solidFill>
            <a:srgbClr val="172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10512"/>
            <a:ext cx="47548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5DDCA0"/>
                </a:solidFill>
                <a:latin typeface="Aptos"/>
              </a:defRPr>
            </a:pPr>
            <a:r>
              <a:t>PREFER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31720"/>
            <a:ext cx="4663440" cy="22860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2F7FF"/>
                </a:solidFill>
                <a:latin typeface="Aptos"/>
              </a:defRPr>
            </a:pPr>
            <a:r>
              <a:t>import os</a:t>
            </a:r>
          </a:p>
          <a:p>
            <a:pPr>
              <a:spcAft>
                <a:spcPts val="700"/>
              </a:spcAft>
              <a:defRPr sz="1500" b="0">
                <a:solidFill>
                  <a:srgbClr val="F2F7FF"/>
                </a:solidFill>
                <a:latin typeface="Aptos"/>
              </a:defRPr>
            </a:pPr>
            <a:r>
              <a:t>DB_PASSWORD = os.environ.get("DB_PASSWORD")</a:t>
            </a:r>
          </a:p>
          <a:p>
            <a:pPr>
              <a:spcAft>
                <a:spcPts val="700"/>
              </a:spcAft>
              <a:defRPr sz="1500" b="0">
                <a:solidFill>
                  <a:srgbClr val="F2F7FF"/>
                </a:solidFill>
                <a:latin typeface="Aptos"/>
              </a:defRPr>
            </a:pPr>
            <a:r>
              <a:t>if not DB_PASSWORD:</a:t>
            </a:r>
          </a:p>
          <a:p>
            <a:pPr>
              <a:spcAft>
                <a:spcPts val="700"/>
              </a:spcAft>
              <a:defRPr sz="1500" b="0">
                <a:solidFill>
                  <a:srgbClr val="F2F7FF"/>
                </a:solidFill>
                <a:latin typeface="Aptos"/>
              </a:defRPr>
            </a:pPr>
            <a:r>
              <a:t>    raise RuntimeError("Missing DB_PASSWORD")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486400"/>
            <a:ext cx="1051560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4C2D7"/>
                </a:solidFill>
                <a:latin typeface="Aptos"/>
              </a:defRPr>
            </a:pPr>
            <a:r>
              <a:t>For production, prefer a managed secret store with access controls, auditing, and rotation.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2F7FF"/>
                </a:solidFill>
                <a:latin typeface="Aptos"/>
              </a:defRPr>
            </a:pPr>
            <a:r>
              <a:t>05  |  Vulnerability #2: SQL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4C2D7"/>
                </a:solidFill>
                <a:latin typeface="Aptos"/>
              </a:defRPr>
            </a:pPr>
            <a:r>
              <a:t>Untrusted input changes the meaning of a database query.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B4C2D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303520" cy="3840480"/>
          </a:xfrm>
          <a:prstGeom prst="round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4008" cy="3840480"/>
          </a:xfrm>
          <a:prstGeom prst="rect">
            <a:avLst/>
          </a:prstGeom>
          <a:solidFill>
            <a:srgbClr val="FF6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10512"/>
            <a:ext cx="4937759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F6870"/>
                </a:solidFill>
                <a:latin typeface="Aptos"/>
              </a:defRPr>
            </a:pPr>
            <a:r>
              <a:t>WHY IT HAPPENS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67712"/>
            <a:ext cx="4937759" cy="31089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2F7FF"/>
                </a:solidFill>
                <a:latin typeface="Aptos"/>
              </a:defRPr>
            </a:pPr>
            <a:r>
              <a:t>• SQL built by concatenating user input</a:t>
            </a:r>
          </a:p>
          <a:p>
            <a:pPr>
              <a:spcAft>
                <a:spcPts val="700"/>
              </a:spcAft>
              <a:defRPr sz="1500" b="0">
                <a:solidFill>
                  <a:srgbClr val="F2F7FF"/>
                </a:solidFill>
                <a:latin typeface="Aptos"/>
              </a:defRPr>
            </a:pPr>
            <a:r>
              <a:t>• Attackers may bypass login or read/change data</a:t>
            </a:r>
          </a:p>
          <a:p>
            <a:pPr>
              <a:spcAft>
                <a:spcPts val="700"/>
              </a:spcAft>
              <a:defRPr sz="1500" b="0">
                <a:solidFill>
                  <a:srgbClr val="F2F7FF"/>
                </a:solidFill>
                <a:latin typeface="Aptos"/>
              </a:defRPr>
            </a:pPr>
            <a:r>
              <a:t>• Severity depends on database permissions and exposed functionality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03520" cy="3840480"/>
          </a:xfrm>
          <a:prstGeom prst="round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64008" cy="3840480"/>
          </a:xfrm>
          <a:prstGeom prst="rect">
            <a:avLst/>
          </a:prstGeom>
          <a:solidFill>
            <a:srgbClr val="5D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810512"/>
            <a:ext cx="4937759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5DDCA0"/>
                </a:solidFill>
                <a:latin typeface="Aptos"/>
              </a:defRPr>
            </a:pPr>
            <a:r>
              <a:t>PREVENTION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67712"/>
            <a:ext cx="4937759" cy="31089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2F7FF"/>
                </a:solidFill>
                <a:latin typeface="Aptos"/>
              </a:defRPr>
            </a:pPr>
            <a:r>
              <a:t>• Use parameterized queries / prepared statements</a:t>
            </a:r>
          </a:p>
          <a:p>
            <a:pPr>
              <a:spcAft>
                <a:spcPts val="700"/>
              </a:spcAft>
              <a:defRPr sz="1500" b="0">
                <a:solidFill>
                  <a:srgbClr val="F2F7FF"/>
                </a:solidFill>
                <a:latin typeface="Aptos"/>
              </a:defRPr>
            </a:pPr>
            <a:r>
              <a:t>• Avoid building SQL with string concatenation</a:t>
            </a:r>
          </a:p>
          <a:p>
            <a:pPr>
              <a:spcAft>
                <a:spcPts val="700"/>
              </a:spcAft>
              <a:defRPr sz="1500" b="0">
                <a:solidFill>
                  <a:srgbClr val="F2F7FF"/>
                </a:solidFill>
                <a:latin typeface="Aptos"/>
              </a:defRPr>
            </a:pPr>
            <a:r>
              <a:t>• Apply least-privilege database permissions</a:t>
            </a:r>
          </a:p>
          <a:p>
            <a:pPr>
              <a:spcAft>
                <a:spcPts val="700"/>
              </a:spcAft>
              <a:defRPr sz="1500" b="0">
                <a:solidFill>
                  <a:srgbClr val="F2F7FF"/>
                </a:solidFill>
                <a:latin typeface="Aptos"/>
              </a:defRPr>
            </a:pPr>
            <a:r>
              <a:t>• Validate inputs as defense in depth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06440"/>
            <a:ext cx="106984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30D3D6"/>
                </a:solidFill>
                <a:latin typeface="Aptos"/>
              </a:defRPr>
            </a:pPr>
            <a:r>
              <a:t>Rule of thumb: data should remain data — never become executable SQL.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2F7FF"/>
                </a:solidFill>
                <a:latin typeface="Aptos"/>
              </a:defRPr>
            </a:pPr>
            <a:r>
              <a:t>06  |  SQL Injection: Before and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4C2D7"/>
                </a:solidFill>
                <a:latin typeface="Aptos"/>
              </a:defRPr>
            </a:pPr>
            <a:r>
              <a:t>Use placeholders so the database handles user input as a value.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B4C2D7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440680" cy="4160520"/>
          </a:xfrm>
          <a:prstGeom prst="roundRect">
            <a:avLst/>
          </a:prstGeom>
          <a:solidFill>
            <a:srgbClr val="261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49377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6870"/>
                </a:solidFill>
                <a:latin typeface="Aptos"/>
              </a:defRPr>
            </a:pPr>
            <a:r>
              <a:t>UNSAFE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4892040" cy="23774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2F7FF"/>
                </a:solidFill>
                <a:latin typeface="Aptos"/>
              </a:defRPr>
            </a:pPr>
            <a:r>
              <a:t>query = "SELECT * FROM users WHERE name = '" + username + "'"</a:t>
            </a:r>
          </a:p>
          <a:p>
            <a:pPr>
              <a:spcAft>
                <a:spcPts val="700"/>
              </a:spcAft>
              <a:defRPr sz="1400" b="0">
                <a:solidFill>
                  <a:srgbClr val="F2F7FF"/>
                </a:solidFill>
                <a:latin typeface="Aptos"/>
              </a:defRPr>
            </a:pPr>
            <a:r>
              <a:t>cursor.execute(query)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983480"/>
            <a:ext cx="47548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4C2D7"/>
                </a:solidFill>
                <a:latin typeface="Aptos"/>
              </a:defRPr>
            </a:pPr>
            <a:r>
              <a:t>String concatenation mixes code and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257800" cy="4160520"/>
          </a:xfrm>
          <a:prstGeom prst="roundRect">
            <a:avLst/>
          </a:prstGeom>
          <a:solidFill>
            <a:srgbClr val="172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7548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5DDCA0"/>
                </a:solidFill>
                <a:latin typeface="Aptos"/>
              </a:defRPr>
            </a:pPr>
            <a:r>
              <a:t>SAFER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31720"/>
            <a:ext cx="4709160" cy="23774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2F7FF"/>
                </a:solidFill>
                <a:latin typeface="Aptos"/>
              </a:defRPr>
            </a:pPr>
            <a:r>
              <a:t>cursor.execute(</a:t>
            </a:r>
          </a:p>
          <a:p>
            <a:pPr>
              <a:spcAft>
                <a:spcPts val="700"/>
              </a:spcAft>
              <a:defRPr sz="1400" b="0">
                <a:solidFill>
                  <a:srgbClr val="F2F7FF"/>
                </a:solidFill>
                <a:latin typeface="Aptos"/>
              </a:defRPr>
            </a:pPr>
            <a:r>
              <a:t>    "SELECT * FROM users WHERE name = %s",</a:t>
            </a:r>
          </a:p>
          <a:p>
            <a:pPr>
              <a:spcAft>
                <a:spcPts val="700"/>
              </a:spcAft>
              <a:defRPr sz="1400" b="0">
                <a:solidFill>
                  <a:srgbClr val="F2F7FF"/>
                </a:solidFill>
                <a:latin typeface="Aptos"/>
              </a:defRPr>
            </a:pPr>
            <a:r>
              <a:t>    (username,)</a:t>
            </a:r>
          </a:p>
          <a:p>
            <a:pPr>
              <a:spcAft>
                <a:spcPts val="700"/>
              </a:spcAft>
              <a:defRPr sz="1400" b="0">
                <a:solidFill>
                  <a:srgbClr val="F2F7FF"/>
                </a:solidFill>
                <a:latin typeface="Aptos"/>
              </a:defRPr>
            </a:pPr>
            <a: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983480"/>
            <a:ext cx="466344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4C2D7"/>
                </a:solidFill>
                <a:latin typeface="Aptos"/>
              </a:defRPr>
            </a:pPr>
            <a:r>
              <a:t>Placeholder syntax varies by database driver.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2F7FF"/>
                </a:solidFill>
                <a:latin typeface="Aptos"/>
              </a:defRPr>
            </a:pPr>
            <a:r>
              <a:t>07  |  Vulnerability #3: Command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4C2D7"/>
                </a:solidFill>
                <a:latin typeface="Aptos"/>
              </a:defRPr>
            </a:pPr>
            <a:r>
              <a:t>Unsafe shell execution can turn input into operating-system commands.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B4C2D7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303520" cy="3840480"/>
          </a:xfrm>
          <a:prstGeom prst="round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4008" cy="3840480"/>
          </a:xfrm>
          <a:prstGeom prst="rect">
            <a:avLst/>
          </a:prstGeom>
          <a:solidFill>
            <a:srgbClr val="FF6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10512"/>
            <a:ext cx="4937759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F6870"/>
                </a:solidFill>
                <a:latin typeface="Aptos"/>
              </a:defRPr>
            </a:pPr>
            <a:r>
              <a:t>RISKY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67712"/>
            <a:ext cx="4937759" cy="31089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2F7FF"/>
                </a:solidFill>
                <a:latin typeface="Aptos"/>
              </a:defRPr>
            </a:pPr>
            <a:r>
              <a:t>• Passing raw user input into shell commands</a:t>
            </a:r>
          </a:p>
          <a:p>
            <a:pPr>
              <a:spcAft>
                <a:spcPts val="700"/>
              </a:spcAft>
              <a:defRPr sz="1500" b="0">
                <a:solidFill>
                  <a:srgbClr val="F2F7FF"/>
                </a:solidFill>
                <a:latin typeface="Aptos"/>
              </a:defRPr>
            </a:pPr>
            <a:r>
              <a:t>• Using shell=True without a strong reason</a:t>
            </a:r>
          </a:p>
          <a:p>
            <a:pPr>
              <a:spcAft>
                <a:spcPts val="700"/>
              </a:spcAft>
              <a:defRPr sz="1500" b="0">
                <a:solidFill>
                  <a:srgbClr val="F2F7FF"/>
                </a:solidFill>
                <a:latin typeface="Aptos"/>
              </a:defRPr>
            </a:pPr>
            <a:r>
              <a:t>• Allowing arbitrary file names, flags, or hostnames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03520" cy="3840480"/>
          </a:xfrm>
          <a:prstGeom prst="round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64008" cy="3840480"/>
          </a:xfrm>
          <a:prstGeom prst="rect">
            <a:avLst/>
          </a:prstGeom>
          <a:solidFill>
            <a:srgbClr val="5D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810512"/>
            <a:ext cx="4937759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5DDCA0"/>
                </a:solidFill>
                <a:latin typeface="Aptos"/>
              </a:defRPr>
            </a:pPr>
            <a:r>
              <a:t>SAFER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67712"/>
            <a:ext cx="4937759" cy="31089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2F7FF"/>
                </a:solidFill>
                <a:latin typeface="Aptos"/>
              </a:defRPr>
            </a:pPr>
            <a:r>
              <a:t>• Prefer language-native APIs over shell commands</a:t>
            </a:r>
          </a:p>
          <a:p>
            <a:pPr>
              <a:spcAft>
                <a:spcPts val="700"/>
              </a:spcAft>
              <a:defRPr sz="1500" b="0">
                <a:solidFill>
                  <a:srgbClr val="F2F7FF"/>
                </a:solidFill>
                <a:latin typeface="Aptos"/>
              </a:defRPr>
            </a:pPr>
            <a:r>
              <a:t>• Use subprocess with an argument list and shell=False</a:t>
            </a:r>
          </a:p>
          <a:p>
            <a:pPr>
              <a:spcAft>
                <a:spcPts val="700"/>
              </a:spcAft>
              <a:defRPr sz="1500" b="0">
                <a:solidFill>
                  <a:srgbClr val="F2F7FF"/>
                </a:solidFill>
                <a:latin typeface="Aptos"/>
              </a:defRPr>
            </a:pPr>
            <a:r>
              <a:t>• Allowlist acceptable values and paths</a:t>
            </a:r>
          </a:p>
          <a:p>
            <a:pPr>
              <a:spcAft>
                <a:spcPts val="700"/>
              </a:spcAft>
              <a:defRPr sz="1500" b="0">
                <a:solidFill>
                  <a:srgbClr val="F2F7FF"/>
                </a:solidFill>
                <a:latin typeface="Aptos"/>
              </a:defRPr>
            </a:pPr>
            <a:r>
              <a:t>• Run with minimal operating-system privileges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06440"/>
            <a:ext cx="106984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30D3D6"/>
                </a:solidFill>
                <a:latin typeface="Aptos"/>
              </a:defRPr>
            </a:pPr>
            <a:r>
              <a:t>Never assume escaping alone is a complete defense.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2F7FF"/>
                </a:solidFill>
                <a:latin typeface="Aptos"/>
              </a:defRPr>
            </a:pPr>
            <a:r>
              <a:t>08  |  Command Execution: Safer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4C2D7"/>
                </a:solidFill>
                <a:latin typeface="Aptos"/>
              </a:defRPr>
            </a:pPr>
            <a:r>
              <a:t>Example: invoke a known executable with separate arguments.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B4C2D7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3566160"/>
          </a:xfrm>
          <a:prstGeom prst="roundRect">
            <a:avLst/>
          </a:prstGeom>
          <a:solidFill>
            <a:srgbClr val="261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01952"/>
            <a:ext cx="46634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FF6870"/>
                </a:solidFill>
                <a:latin typeface="Aptos"/>
              </a:defRPr>
            </a:pPr>
            <a:r>
              <a:t>AVOID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23160"/>
            <a:ext cx="4663440" cy="20116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F2F7FF"/>
                </a:solidFill>
                <a:latin typeface="Aptos"/>
              </a:defRPr>
            </a:pPr>
            <a:r>
              <a:t>os.system("ping " + user_input)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12080" cy="3566160"/>
          </a:xfrm>
          <a:prstGeom prst="roundRect">
            <a:avLst/>
          </a:prstGeom>
          <a:solidFill>
            <a:srgbClr val="172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901952"/>
            <a:ext cx="46634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5DDCA0"/>
                </a:solidFill>
                <a:latin typeface="Aptos"/>
              </a:defRPr>
            </a:pPr>
            <a:r>
              <a:t>PREFER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423160"/>
            <a:ext cx="4663440" cy="21945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2F7FF"/>
                </a:solidFill>
                <a:latin typeface="Aptos"/>
              </a:defRPr>
            </a:pPr>
            <a:r>
              <a:t>subprocess.run(</a:t>
            </a:r>
          </a:p>
          <a:p>
            <a:pPr>
              <a:spcAft>
                <a:spcPts val="700"/>
              </a:spcAft>
              <a:defRPr sz="1400" b="0">
                <a:solidFill>
                  <a:srgbClr val="F2F7FF"/>
                </a:solidFill>
                <a:latin typeface="Aptos"/>
              </a:defRPr>
            </a:pPr>
            <a:r>
              <a:t>    ["ping", "-c", "1", allowed_host],</a:t>
            </a:r>
          </a:p>
          <a:p>
            <a:pPr>
              <a:spcAft>
                <a:spcPts val="700"/>
              </a:spcAft>
              <a:defRPr sz="1400" b="0">
                <a:solidFill>
                  <a:srgbClr val="F2F7FF"/>
                </a:solidFill>
                <a:latin typeface="Aptos"/>
              </a:defRPr>
            </a:pPr>
            <a:r>
              <a:t>    shell=False,</a:t>
            </a:r>
          </a:p>
          <a:p>
            <a:pPr>
              <a:spcAft>
                <a:spcPts val="700"/>
              </a:spcAft>
              <a:defRPr sz="1400" b="0">
                <a:solidFill>
                  <a:srgbClr val="F2F7FF"/>
                </a:solidFill>
                <a:latin typeface="Aptos"/>
              </a:defRPr>
            </a:pPr>
            <a:r>
              <a:t>    check=True,</a:t>
            </a:r>
          </a:p>
          <a:p>
            <a:pPr>
              <a:spcAft>
                <a:spcPts val="700"/>
              </a:spcAft>
              <a:defRPr sz="1400" b="0">
                <a:solidFill>
                  <a:srgbClr val="F2F7FF"/>
                </a:solidFill>
                <a:latin typeface="Aptos"/>
              </a:defRPr>
            </a:pPr>
            <a: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623560"/>
            <a:ext cx="1060704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4C2D7"/>
                </a:solidFill>
                <a:latin typeface="Aptos"/>
              </a:defRPr>
            </a:pPr>
            <a:r>
              <a:t>Validate allowed_host against an explicit allowlist; platform flags may differ.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2F7FF"/>
                </a:solidFill>
                <a:latin typeface="Aptos"/>
              </a:defRPr>
            </a:pPr>
            <a:r>
              <a:t>09  |  Secure Coding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4C2D7"/>
                </a:solidFill>
                <a:latin typeface="Aptos"/>
              </a:defRPr>
            </a:pPr>
            <a:r>
              <a:t>Reduce risk across the whole development lifecycle.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B4C2D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520440" cy="3977639"/>
          </a:xfrm>
          <a:prstGeom prst="round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64008" cy="3977639"/>
          </a:xfrm>
          <a:prstGeom prst="rect">
            <a:avLst/>
          </a:prstGeom>
          <a:solidFill>
            <a:srgbClr val="30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64792"/>
            <a:ext cx="31546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30D3D6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21992"/>
            <a:ext cx="3154680" cy="3246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2F7FF"/>
                </a:solidFill>
                <a:latin typeface="Aptos"/>
              </a:defRPr>
            </a:pPr>
            <a:r>
              <a:t>• Validate type, length, and format</a:t>
            </a:r>
          </a:p>
          <a:p>
            <a:pPr>
              <a:spcAft>
                <a:spcPts val="700"/>
              </a:spcAft>
              <a:defRPr sz="1400" b="0">
                <a:solidFill>
                  <a:srgbClr val="F2F7FF"/>
                </a:solidFill>
                <a:latin typeface="Aptos"/>
              </a:defRPr>
            </a:pPr>
            <a:r>
              <a:t>• Use allowlists where possible</a:t>
            </a:r>
          </a:p>
          <a:p>
            <a:pPr>
              <a:spcAft>
                <a:spcPts val="700"/>
              </a:spcAft>
              <a:defRPr sz="1400" b="0">
                <a:solidFill>
                  <a:srgbClr val="F2F7FF"/>
                </a:solidFill>
                <a:latin typeface="Aptos"/>
              </a:defRPr>
            </a:pPr>
            <a:r>
              <a:t>• Encode output for its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520440" cy="3977639"/>
          </a:xfrm>
          <a:prstGeom prst="round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00200"/>
            <a:ext cx="64008" cy="3977639"/>
          </a:xfrm>
          <a:prstGeom prst="rect">
            <a:avLst/>
          </a:prstGeom>
          <a:solidFill>
            <a:srgbClr val="FFC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764792"/>
            <a:ext cx="31546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FCD66"/>
                </a:solidFill>
                <a:latin typeface="Aptos"/>
              </a:defRPr>
            </a:pPr>
            <a:r>
              <a:t>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221992"/>
            <a:ext cx="3154680" cy="3246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2F7FF"/>
                </a:solidFill>
                <a:latin typeface="Aptos"/>
              </a:defRPr>
            </a:pPr>
            <a:r>
              <a:t>• Least privilege everywhere</a:t>
            </a:r>
          </a:p>
          <a:p>
            <a:pPr>
              <a:spcAft>
                <a:spcPts val="700"/>
              </a:spcAft>
              <a:defRPr sz="1400" b="0">
                <a:solidFill>
                  <a:srgbClr val="F2F7FF"/>
                </a:solidFill>
                <a:latin typeface="Aptos"/>
              </a:defRPr>
            </a:pPr>
            <a:r>
              <a:t>• Protect secrets and tokens</a:t>
            </a:r>
          </a:p>
          <a:p>
            <a:pPr>
              <a:spcAft>
                <a:spcPts val="700"/>
              </a:spcAft>
              <a:defRPr sz="1400" b="0">
                <a:solidFill>
                  <a:srgbClr val="F2F7FF"/>
                </a:solidFill>
                <a:latin typeface="Aptos"/>
              </a:defRPr>
            </a:pPr>
            <a:r>
              <a:t>• Authorize every sensitive 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520440" cy="3977639"/>
          </a:xfrm>
          <a:prstGeom prst="round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64008" cy="3977639"/>
          </a:xfrm>
          <a:prstGeom prst="rect">
            <a:avLst/>
          </a:prstGeom>
          <a:solidFill>
            <a:srgbClr val="5D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764792"/>
            <a:ext cx="31546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5DDCA0"/>
                </a:solidFill>
                <a:latin typeface="Aptos"/>
              </a:defRPr>
            </a:pPr>
            <a:r>
              <a:t>DELIVERY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221992"/>
            <a:ext cx="3154680" cy="32461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F2F7FF"/>
                </a:solidFill>
                <a:latin typeface="Aptos"/>
              </a:defRPr>
            </a:pPr>
            <a:r>
              <a:t>• Dependency and static analysis scans</a:t>
            </a:r>
          </a:p>
          <a:p>
            <a:pPr>
              <a:spcAft>
                <a:spcPts val="700"/>
              </a:spcAft>
              <a:defRPr sz="1400" b="0">
                <a:solidFill>
                  <a:srgbClr val="F2F7FF"/>
                </a:solidFill>
                <a:latin typeface="Aptos"/>
              </a:defRPr>
            </a:pPr>
            <a:r>
              <a:t>• Security tests in CI/CD</a:t>
            </a:r>
          </a:p>
          <a:p>
            <a:pPr>
              <a:spcAft>
                <a:spcPts val="700"/>
              </a:spcAft>
              <a:defRPr sz="1400" b="0">
                <a:solidFill>
                  <a:srgbClr val="F2F7FF"/>
                </a:solidFill>
                <a:latin typeface="Aptos"/>
              </a:defRPr>
            </a:pPr>
            <a:r>
              <a:t>• Patch, log, and monitor safely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2F7FF"/>
                </a:solidFill>
                <a:latin typeface="Aptos"/>
              </a:defRPr>
            </a:pPr>
            <a:r>
              <a:t>10  |  Testing and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4C2D7"/>
                </a:solidFill>
                <a:latin typeface="Aptos"/>
              </a:defRPr>
            </a:pPr>
            <a:r>
              <a:t>A fix is not complete until the weakness is retested.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B4C2D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303520" cy="3794760"/>
          </a:xfrm>
          <a:prstGeom prst="round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64008" cy="3794760"/>
          </a:xfrm>
          <a:prstGeom prst="rect">
            <a:avLst/>
          </a:prstGeom>
          <a:solidFill>
            <a:srgbClr val="30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10512"/>
            <a:ext cx="4937759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30D3D6"/>
                </a:solidFill>
                <a:latin typeface="Aptos"/>
              </a:defRPr>
            </a:pPr>
            <a:r>
              <a:t>TEST IDEAS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67712"/>
            <a:ext cx="4937759" cy="30632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2F7FF"/>
                </a:solidFill>
                <a:latin typeface="Aptos"/>
              </a:defRPr>
            </a:pPr>
            <a:r>
              <a:t>• Confirm secrets are absent from source control</a:t>
            </a:r>
          </a:p>
          <a:p>
            <a:pPr>
              <a:spcAft>
                <a:spcPts val="700"/>
              </a:spcAft>
              <a:defRPr sz="1500" b="0">
                <a:solidFill>
                  <a:srgbClr val="F2F7FF"/>
                </a:solidFill>
                <a:latin typeface="Aptos"/>
              </a:defRPr>
            </a:pPr>
            <a:r>
              <a:t>• Test SQL operations with unusual input</a:t>
            </a:r>
          </a:p>
          <a:p>
            <a:pPr>
              <a:spcAft>
                <a:spcPts val="700"/>
              </a:spcAft>
              <a:defRPr sz="1500" b="0">
                <a:solidFill>
                  <a:srgbClr val="F2F7FF"/>
                </a:solidFill>
                <a:latin typeface="Aptos"/>
              </a:defRPr>
            </a:pPr>
            <a:r>
              <a:t>• Test command interfaces with rejected values</a:t>
            </a:r>
          </a:p>
          <a:p>
            <a:pPr>
              <a:spcAft>
                <a:spcPts val="700"/>
              </a:spcAft>
              <a:defRPr sz="1500" b="0">
                <a:solidFill>
                  <a:srgbClr val="F2F7FF"/>
                </a:solidFill>
                <a:latin typeface="Aptos"/>
              </a:defRPr>
            </a:pPr>
            <a:r>
              <a:t>• Verify error messages do not reveal secrets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03520" cy="3794760"/>
          </a:xfrm>
          <a:prstGeom prst="round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64008" cy="3794760"/>
          </a:xfrm>
          <a:prstGeom prst="rect">
            <a:avLst/>
          </a:prstGeom>
          <a:solidFill>
            <a:srgbClr val="FFC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810512"/>
            <a:ext cx="4937759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FCD66"/>
                </a:solidFill>
                <a:latin typeface="Aptos"/>
              </a:defRPr>
            </a:pPr>
            <a:r>
              <a:t>EVIDENCE TO RECORD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267712"/>
            <a:ext cx="4937759" cy="30632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2F7FF"/>
                </a:solidFill>
                <a:latin typeface="Aptos"/>
              </a:defRPr>
            </a:pPr>
            <a:r>
              <a:t>• Finding and affected component</a:t>
            </a:r>
          </a:p>
          <a:p>
            <a:pPr>
              <a:spcAft>
                <a:spcPts val="700"/>
              </a:spcAft>
              <a:defRPr sz="1500" b="0">
                <a:solidFill>
                  <a:srgbClr val="F2F7FF"/>
                </a:solidFill>
                <a:latin typeface="Aptos"/>
              </a:defRPr>
            </a:pPr>
            <a:r>
              <a:t>• Impact and severity rationale</a:t>
            </a:r>
          </a:p>
          <a:p>
            <a:pPr>
              <a:spcAft>
                <a:spcPts val="700"/>
              </a:spcAft>
              <a:defRPr sz="1500" b="0">
                <a:solidFill>
                  <a:srgbClr val="F2F7FF"/>
                </a:solidFill>
                <a:latin typeface="Aptos"/>
              </a:defRPr>
            </a:pPr>
            <a:r>
              <a:t>• Before/after behavior</a:t>
            </a:r>
          </a:p>
          <a:p>
            <a:pPr>
              <a:spcAft>
                <a:spcPts val="700"/>
              </a:spcAft>
              <a:defRPr sz="1500" b="0">
                <a:solidFill>
                  <a:srgbClr val="F2F7FF"/>
                </a:solidFill>
                <a:latin typeface="Aptos"/>
              </a:defRPr>
            </a:pPr>
            <a:r>
              <a:t>• Regression test and remediation 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06440"/>
            <a:ext cx="105156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4C2D7"/>
                </a:solidFill>
                <a:latin typeface="Aptos"/>
              </a:defRPr>
            </a:pPr>
            <a:r>
              <a:t>Only test systems and applications you own or are authorized to assess.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2F7FF"/>
                </a:solidFill>
                <a:latin typeface="Aptos"/>
              </a:defRPr>
            </a:pPr>
            <a:r>
              <a:t>11  | 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4C2D7"/>
                </a:solidFill>
                <a:latin typeface="Aptos"/>
              </a:defRPr>
            </a:pPr>
            <a:r>
              <a:t>Three common issues — three practical defenses.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B4C2D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424160" cy="914400"/>
          </a:xfrm>
          <a:prstGeom prst="round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24688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5DDCA0"/>
                </a:solidFill>
                <a:latin typeface="Aptos"/>
              </a:defRPr>
            </a:pPr>
            <a:r>
              <a:t>Hardcoded secrets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810512"/>
            <a:ext cx="722376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2F7FF"/>
                </a:solidFill>
                <a:latin typeface="Aptos"/>
              </a:defRPr>
            </a:pPr>
            <a:r>
              <a:t>Use environment configuration or a managed secret vault.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0360"/>
            <a:ext cx="10424160" cy="914400"/>
          </a:xfrm>
          <a:prstGeom prst="round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63240"/>
            <a:ext cx="24688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30D3D6"/>
                </a:solidFill>
                <a:latin typeface="Aptos"/>
              </a:defRPr>
            </a:pPr>
            <a:r>
              <a:t>SQL injection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044952"/>
            <a:ext cx="722376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2F7FF"/>
                </a:solidFill>
                <a:latin typeface="Aptos"/>
              </a:defRPr>
            </a:pPr>
            <a:r>
              <a:t>Use parameterized queries and least-privilege database accounts.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114800"/>
            <a:ext cx="10424160" cy="914400"/>
          </a:xfrm>
          <a:prstGeom prst="round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297680"/>
            <a:ext cx="246888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FCD66"/>
                </a:solidFill>
                <a:latin typeface="Aptos"/>
              </a:defRPr>
            </a:pPr>
            <a:r>
              <a:t>Command injection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279392"/>
            <a:ext cx="722376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F2F7FF"/>
                </a:solidFill>
                <a:latin typeface="Aptos"/>
              </a:defRPr>
            </a:pPr>
            <a:r>
              <a:t>Avoid shell strings; use safe APIs, argument lists, and allowlists.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69280"/>
            <a:ext cx="1024128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30D3D6"/>
                </a:solidFill>
                <a:latin typeface="Aptos"/>
              </a:defRPr>
            </a:pPr>
            <a:r>
              <a:t>Security is a development habit, not a final-stage checkbox.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6692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2F7FF"/>
                </a:solidFill>
                <a:latin typeface="Aptos"/>
              </a:defRPr>
            </a:pPr>
            <a:r>
              <a:t>12  |  References &amp; 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8813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4C2D7"/>
                </a:solidFill>
                <a:latin typeface="Aptos"/>
              </a:defRPr>
            </a:pPr>
            <a:r>
              <a:t>Use authoritative guidance to deepen the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50292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>
              <a:spcAft>
                <a:spcPts val="700"/>
              </a:spcAft>
              <a:defRPr sz="1000" b="0">
                <a:solidFill>
                  <a:srgbClr val="B4C2D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89920" cy="713232"/>
          </a:xfrm>
          <a:prstGeom prst="round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81912"/>
            <a:ext cx="2926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0D3D6"/>
                </a:solidFill>
                <a:latin typeface="Aptos"/>
              </a:defRPr>
            </a:pPr>
            <a:r>
              <a:t>OWASP Top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1581912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F2F7FF"/>
                </a:solidFill>
                <a:latin typeface="Aptos"/>
              </a:defRPr>
            </a:pPr>
            <a:r>
              <a:t>https://owasp.org/www-project-top-ten/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56231"/>
            <a:ext cx="73152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4C2D7"/>
                </a:solidFill>
                <a:latin typeface="Aptos"/>
              </a:defRPr>
            </a:pPr>
            <a:r>
              <a:t>Common web application security risks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77439"/>
            <a:ext cx="10789920" cy="713232"/>
          </a:xfrm>
          <a:prstGeom prst="round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450591"/>
            <a:ext cx="2926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0D3D6"/>
                </a:solidFill>
                <a:latin typeface="Aptos"/>
              </a:defRPr>
            </a:pPr>
            <a:r>
              <a:t>OWASP SQL Injection Prevention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450591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F2F7FF"/>
                </a:solidFill>
                <a:latin typeface="Aptos"/>
              </a:defRPr>
            </a:pPr>
            <a:r>
              <a:t>https://cheatsheetseries.owasp.org/cheatsheets/SQL_Injection_Prevention_Cheat_Sheet.html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724911"/>
            <a:ext cx="73152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4C2D7"/>
                </a:solidFill>
                <a:latin typeface="Aptos"/>
              </a:defRPr>
            </a:pPr>
            <a:r>
              <a:t>Parameterized queries and database defenses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46120"/>
            <a:ext cx="10789920" cy="713232"/>
          </a:xfrm>
          <a:prstGeom prst="round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319272"/>
            <a:ext cx="2926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0D3D6"/>
                </a:solidFill>
                <a:latin typeface="Aptos"/>
              </a:defRPr>
            </a:pPr>
            <a:r>
              <a:t>OWASP Secrets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319272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F2F7FF"/>
                </a:solidFill>
                <a:latin typeface="Aptos"/>
              </a:defRPr>
            </a:pPr>
            <a:r>
              <a:t>https://cheatsheetseries.owasp.org/cheatsheets/Secrets_Management_Cheat_Sheet.html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3593591"/>
            <a:ext cx="73152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4C2D7"/>
                </a:solidFill>
                <a:latin typeface="Aptos"/>
              </a:defRPr>
            </a:pPr>
            <a:r>
              <a:t>Protecting and rotating secrets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14800"/>
            <a:ext cx="10789920" cy="713232"/>
          </a:xfrm>
          <a:prstGeom prst="round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87952"/>
            <a:ext cx="2926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0D3D6"/>
                </a:solidFill>
                <a:latin typeface="Aptos"/>
              </a:defRPr>
            </a:pPr>
            <a:r>
              <a:t>Python subprocess documentation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4187952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F2F7FF"/>
                </a:solidFill>
                <a:latin typeface="Aptos"/>
              </a:defRPr>
            </a:pPr>
            <a:r>
              <a:t>https://docs.python.org/3/library/subprocess.html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4462272"/>
            <a:ext cx="73152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4C2D7"/>
                </a:solidFill>
                <a:latin typeface="Aptos"/>
              </a:defRPr>
            </a:pPr>
            <a:r>
              <a:t>Safe process invocation patterns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983479"/>
            <a:ext cx="10789920" cy="713232"/>
          </a:xfrm>
          <a:prstGeom prst="roundRect">
            <a:avLst/>
          </a:prstGeom>
          <a:solidFill>
            <a:srgbClr val="13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056631"/>
            <a:ext cx="29260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30D3D6"/>
                </a:solidFill>
                <a:latin typeface="Aptos"/>
              </a:defRPr>
            </a:pPr>
            <a:r>
              <a:t>CWE-78: OS Command Injection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5056631"/>
            <a:ext cx="7315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F2F7FF"/>
                </a:solidFill>
                <a:latin typeface="Aptos"/>
              </a:defRPr>
            </a:pPr>
            <a:r>
              <a:t>https://cwe.mitre.org/data/definitions/78.html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5330951"/>
            <a:ext cx="7315200" cy="20116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4C2D7"/>
                </a:solidFill>
                <a:latin typeface="Aptos"/>
              </a:defRPr>
            </a:pPr>
            <a:r>
              <a:t>Weakness definition and mitigations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6080760"/>
            <a:ext cx="105156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B4C2D7"/>
                </a:solidFill>
                <a:latin typeface="Aptos"/>
              </a:defRPr>
            </a:pPr>
            <a:r>
              <a:t>Prepared for educational purposes • CodeAlpha Cyber Security Internship • Vikash Sahu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